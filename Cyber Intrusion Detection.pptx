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4FAB11-0666-46BE-A065-4E8E8D3BEFD0}">
  <a:tblStyle styleId="{694FAB11-0666-46BE-A065-4E8E8D3BEF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microsoft.com/office/2007/relationships/hdphoto" Target="../media/hdphoto1.wdp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58441"/>
            <a:ext cx="900112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284C7"/>
                </a:solidFill>
                <a:latin typeface="Poppins"/>
                <a:ea typeface="Calibri"/>
                <a:cs typeface="Poppins"/>
                <a:sym typeface="Poppins"/>
              </a:rPr>
              <a:t>Cyber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Intrusion Detection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25341"/>
            <a:ext cx="857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 and Categorize Modern Network Vulnerabilities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2449859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Bridging the Detection Gap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992784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firewalls struggle to isolate erratic, low-footprint intrusions hidden within massive traffic volumes.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684240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Success Metrics: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4110930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Achieve a </a:t>
            </a:r>
            <a:r>
              <a:rPr lang="en-US" sz="1350" b="1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F1-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&gt; 90% to mitigate dense class skews.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802385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 a 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False Alarm Rate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prevent operational fatigue in security teams.</a:t>
            </a:r>
            <a:endParaRPr dirty="0"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</a:t>
            </a:r>
            <a:endParaRPr dirty="0"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109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0238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9315"/>
            <a:ext cx="3492549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79315"/>
            <a:ext cx="3492549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79315"/>
            <a:ext cx="3492549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7222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44231" y="372234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 Teams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4265265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engineers requiring real-time alert triage and anomaly filtering.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7222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22530" y="372234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92699" y="4265265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Systems designers focusing on performance and protocol security signatures.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299" y="27222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400830" y="372234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Leadership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70999" y="4265265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Executives managing risk thresholds and compliance standards.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03387" y="293176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1687" y="293176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21899" y="293176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</a:t>
            </a:r>
            <a:r>
              <a:rPr lang="en-US" sz="33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Audience</a:t>
            </a:r>
            <a:endParaRPr dirty="0"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485900" y="2858392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485900" y="4668142"/>
            <a:ext cx="27432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Classification Models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991100" y="2795587"/>
            <a:ext cx="6000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Phased Modeling Strategy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991100" y="3338512"/>
            <a:ext cx="5715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resolve two distinct challenges using a unified ML pipeline: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324475" y="3765202"/>
            <a:ext cx="5381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 1: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Binary Classification to identify malicious vs. normal traffic. (63% Malicious, 37% Normal)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5324475" y="4456658"/>
            <a:ext cx="5381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 2: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Multi-class Classification to categorize attacks into 9 distinct 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categories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Modeling </a:t>
            </a:r>
            <a:r>
              <a:rPr lang="en-US" sz="33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Goals &amp; Objectives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1100" y="37652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1100" y="445665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9315"/>
            <a:ext cx="5381625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79315"/>
            <a:ext cx="5381625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81312" y="27222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97004" y="3722340"/>
            <a:ext cx="493061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F1-Score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914400" y="4265265"/>
            <a:ext cx="46958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 accuracy is misleading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handle minority attack types.</a:t>
            </a:r>
            <a:endParaRPr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48687" y="27222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464379" y="372234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Confusion Matrix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81775" y="426526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Focusing on reducing False Negatives to prevent network breaches and False Positives to save man-hours.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90862" y="293176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58237" y="293176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3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 Metrics</a:t>
            </a:r>
            <a:endParaRPr dirty="0"/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" name="Google Shape;161;p18"/>
          <p:cNvGraphicFramePr/>
          <p:nvPr>
            <p:extLst>
              <p:ext uri="{D42A27DB-BD31-4B8C-83A1-F6EECF244321}">
                <p14:modId xmlns:p14="http://schemas.microsoft.com/office/powerpoint/2010/main" val="3210165533"/>
              </p:ext>
            </p:extLst>
          </p:nvPr>
        </p:nvGraphicFramePr>
        <p:xfrm>
          <a:off x="571500" y="2390775"/>
          <a:ext cx="11049000" cy="2537300"/>
        </p:xfrm>
        <a:graphic>
          <a:graphicData uri="http://schemas.openxmlformats.org/drawingml/2006/table">
            <a:tbl>
              <a:tblPr firstRow="1" bandRow="1">
                <a:noFill/>
                <a:tableStyleId>{694FAB11-0666-46BE-A065-4E8E8D3BEFD0}</a:tableStyleId>
              </a:tblPr>
              <a:tblGrid>
                <a:gridCol w="223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Key Metrics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Modeling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Header Basic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dur, sbytes, sttl,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Foundational traffic structure indicators.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sload, dload, smean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Packet payload and intensity analysis.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&amp; Jitter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sjit, djit, tcprtt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Detecting automated timing signatures.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Google Shape;162;p18"/>
          <p:cNvSpPr/>
          <p:nvPr/>
        </p:nvSpPr>
        <p:spPr>
          <a:xfrm>
            <a:off x="571500" y="3046065"/>
            <a:ext cx="223554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807047" y="3046065"/>
            <a:ext cx="316706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974109" y="3046065"/>
            <a:ext cx="564639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368230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807047" y="3682305"/>
            <a:ext cx="3167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974109" y="3682305"/>
            <a:ext cx="5646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4309020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807047" y="4309020"/>
            <a:ext cx="3167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974109" y="4309020"/>
            <a:ext cx="5646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493573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807047" y="4935735"/>
            <a:ext cx="3167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974109" y="4935735"/>
            <a:ext cx="5646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About the Data: </a:t>
            </a:r>
            <a:r>
              <a:rPr lang="en-US" sz="33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Dictionary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6025"/>
            <a:ext cx="5238750" cy="298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86025"/>
            <a:ext cx="5238750" cy="298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62025" y="287655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Structural Anomalies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341947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Extreme right-skewness in </a:t>
            </a:r>
            <a:r>
              <a:rPr lang="en-US" sz="13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rate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3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sbytes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necessitates log-transformation to stabilize model training.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2025" y="4385220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explicit nulls exist, but hidden "-" in </a:t>
            </a:r>
            <a:r>
              <a:rPr lang="en-US" sz="13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have been re-mapped to "Unspecified".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72275" y="287655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Patterns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72275" y="3419475"/>
            <a:ext cx="4457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sttl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shows predictive separation between 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normal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malicious traffic. And rate between multiclass categories.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Modeling </a:t>
            </a:r>
            <a:r>
              <a:rPr lang="en-US" sz="33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Insights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2516534"/>
            <a:ext cx="3479292" cy="292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4464" y="2516533"/>
            <a:ext cx="3479292" cy="292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6640" y="2859434"/>
            <a:ext cx="492643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29105" y="3901543"/>
            <a:ext cx="31877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Current Challenges</a:t>
            </a:r>
            <a:endParaRPr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793190" y="4302435"/>
            <a:ext cx="3035913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Managing the severe class imbalance in the "Worms" category (&lt;0.1%).</a:t>
            </a:r>
            <a:endParaRPr dirty="0"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6655" y="2806079"/>
            <a:ext cx="492643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620255" y="3901543"/>
            <a:ext cx="31877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Actions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4735019" y="4302435"/>
            <a:ext cx="3035913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Applying Log-Transformations and Cross Validation to ensure all categories are trained.</a:t>
            </a:r>
            <a:endParaRPr dirty="0"/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2116" y="3068984"/>
            <a:ext cx="22168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82157" y="3015629"/>
            <a:ext cx="14163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Progress &amp; </a:t>
            </a:r>
            <a:r>
              <a:rPr lang="en-US" sz="33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Steps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97;p20" descr="image.png">
            <a:extLst>
              <a:ext uri="{FF2B5EF4-FFF2-40B4-BE49-F238E27FC236}">
                <a16:creationId xmlns:a16="http://schemas.microsoft.com/office/drawing/2014/main" id="{C7602015-A327-E91D-C723-4311165617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5714" y="2516533"/>
            <a:ext cx="3479292" cy="292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1;p20" descr="image.png">
            <a:extLst>
              <a:ext uri="{FF2B5EF4-FFF2-40B4-BE49-F238E27FC236}">
                <a16:creationId xmlns:a16="http://schemas.microsoft.com/office/drawing/2014/main" id="{81EC51EA-4360-6B13-FF55-D956F9048186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907905" y="2806079"/>
            <a:ext cx="492643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2;p20">
            <a:extLst>
              <a:ext uri="{FF2B5EF4-FFF2-40B4-BE49-F238E27FC236}">
                <a16:creationId xmlns:a16="http://schemas.microsoft.com/office/drawing/2014/main" id="{077F6DCE-5BCC-2E1A-BE58-17816ABA5D62}"/>
              </a:ext>
            </a:extLst>
          </p:cNvPr>
          <p:cNvSpPr txBox="1"/>
          <p:nvPr/>
        </p:nvSpPr>
        <p:spPr>
          <a:xfrm>
            <a:off x="8521505" y="3901543"/>
            <a:ext cx="318770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Models</a:t>
            </a:r>
            <a:endParaRPr dirty="0"/>
          </a:p>
        </p:txBody>
      </p:sp>
      <p:sp>
        <p:nvSpPr>
          <p:cNvPr id="9" name="Google Shape;203;p20">
            <a:extLst>
              <a:ext uri="{FF2B5EF4-FFF2-40B4-BE49-F238E27FC236}">
                <a16:creationId xmlns:a16="http://schemas.microsoft.com/office/drawing/2014/main" id="{D3CA98C6-8B16-BF45-5939-FA4DD815A03F}"/>
              </a:ext>
            </a:extLst>
          </p:cNvPr>
          <p:cNvSpPr txBox="1"/>
          <p:nvPr/>
        </p:nvSpPr>
        <p:spPr>
          <a:xfrm>
            <a:off x="8636269" y="4302435"/>
            <a:ext cx="303591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Applying Logistics Regression,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XGBOOST</a:t>
            </a:r>
            <a:endParaRPr dirty="0"/>
          </a:p>
        </p:txBody>
      </p:sp>
      <p:pic>
        <p:nvPicPr>
          <p:cNvPr id="13" name="Graphic 12" descr="Venn diagram with solid fill">
            <a:extLst>
              <a:ext uri="{FF2B5EF4-FFF2-40B4-BE49-F238E27FC236}">
                <a16:creationId xmlns:a16="http://schemas.microsoft.com/office/drawing/2014/main" id="{2B3E8325-7ABB-F0BD-3956-950812C87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5625" y="294950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326</Words>
  <Application>Microsoft Office PowerPoint</Application>
  <PresentationFormat>Widescreen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Poppins SemiBold</vt:lpstr>
      <vt:lpstr>Poppins</vt:lpstr>
      <vt:lpstr>Inter SemiBold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Ayoob</cp:lastModifiedBy>
  <cp:revision>6</cp:revision>
  <dcterms:modified xsi:type="dcterms:W3CDTF">2026-07-06T05:17:48Z</dcterms:modified>
</cp:coreProperties>
</file>